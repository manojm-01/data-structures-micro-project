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412480" y="1005840"/>
            <a:ext cx="73152" cy="4389120"/>
          </a:xfrm>
          <a:prstGeom prst="rect">
            <a:avLst/>
          </a:prstGeom>
          <a:solidFill>
            <a:srgbClr val="48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0" y="1005840"/>
            <a:ext cx="73152" cy="4389120"/>
          </a:xfrm>
          <a:prstGeom prst="rect">
            <a:avLst/>
          </a:prstGeom>
          <a:solidFill>
            <a:srgbClr val="48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75520" y="1005840"/>
            <a:ext cx="73152" cy="4389120"/>
          </a:xfrm>
          <a:prstGeom prst="rect">
            <a:avLst/>
          </a:prstGeom>
          <a:solidFill>
            <a:srgbClr val="48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607040" y="1005840"/>
            <a:ext cx="73152" cy="4389120"/>
          </a:xfrm>
          <a:prstGeom prst="rect">
            <a:avLst/>
          </a:prstGeom>
          <a:solidFill>
            <a:srgbClr val="48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38560" y="1005840"/>
            <a:ext cx="73152" cy="4389120"/>
          </a:xfrm>
          <a:prstGeom prst="rect">
            <a:avLst/>
          </a:prstGeom>
          <a:solidFill>
            <a:srgbClr val="486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0972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AIRPORT RUNWAY</a:t>
            </a:r>
          </a:p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SCHEDULING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6120"/>
            <a:ext cx="7132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8DCEC"/>
                </a:solidFill>
              </a:defRPr>
            </a:pPr>
            <a:r>
              <a:t>Data Structures &amp; Algorithms Micro-Project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Alliance University | Alliance College of Engineering and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83480"/>
            <a:ext cx="749807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2B134"/>
                </a:solidFill>
              </a:defRPr>
            </a:pPr>
            <a:r>
              <a:t>Project Team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Neha A  •  Pavan M  •  Lavanya M  •  Diddakunta Ranjith Reddy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Mile Mohan Sivakasi  •  Manoj 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/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1. Problem Statement &amp;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A69A0"/>
                </a:solidFill>
              </a:defRPr>
            </a:pPr>
            <a: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34416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8787"/>
                </a:solidFill>
              </a:defRPr>
            </a:pPr>
            <a:r>
              <a:t>Growing Air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856232"/>
            <a:ext cx="3108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More arrivals and departures put pressure on limited runway capacity.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4416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8787"/>
                </a:solidFill>
              </a:defRPr>
            </a:pPr>
            <a:r>
              <a:t>Manual Coordination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56232"/>
            <a:ext cx="3108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Can lead to waiting queues, circling aircraft and avoidable delays.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3444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34416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2B134"/>
                </a:solidFill>
              </a:defRPr>
            </a:pPr>
            <a:r>
              <a:t>Safety Constraints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56232"/>
            <a:ext cx="3108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Fuel levels, emergencies, passenger load and wake-turbulence separation matter.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57600"/>
            <a:ext cx="10515600" cy="237744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Goal: support controllers in deciding the order of takeoffs and landings.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Aim: improve runway-slot use while preserving required safety gaps.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Implementation language: C++ for fast execution and efficient memory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/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2. Existing Approach vs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A69A0"/>
                </a:solidFill>
              </a:defRPr>
            </a:pPr>
            <a: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51206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35607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A69A0"/>
                </a:solidFill>
              </a:defRPr>
            </a:pPr>
            <a:r>
              <a:t>Traditional: FCFS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47672"/>
            <a:ext cx="4754879" cy="349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• First-Come, First-Served</a:t>
            </a:r>
            <a:br/>
            <a:br/>
            <a:r>
              <a:t>• Simple to monitor</a:t>
            </a:r>
            <a:br/>
            <a:br/>
            <a:r>
              <a:t>• Treats flights similarly even when urgency, fuel and aircraft size differ</a:t>
            </a:r>
            <a:br/>
            <a:br/>
            <a:r>
              <a:t>• May create avoidable waiting and spacing inefficiencies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25880"/>
            <a:ext cx="512064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35607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8787"/>
                </a:solidFill>
              </a:defRPr>
            </a:pPr>
            <a:r>
              <a:t>Proposed: Priority-Based 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47672"/>
            <a:ext cx="4754879" cy="3493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• Dynamically ranks flights using flight conditions</a:t>
            </a:r>
            <a:br/>
            <a:br/>
            <a:r>
              <a:t>• Gives attention to emergencies and critical fuel</a:t>
            </a:r>
            <a:br/>
            <a:br/>
            <a:r>
              <a:t>• Uses a heap-based priority queue</a:t>
            </a:r>
            <a:br/>
            <a:br/>
            <a:r>
              <a:t>• Plans taxiway routes using a graph and Dijkstra's 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1500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2A69A0"/>
                </a:solidFill>
              </a:defRPr>
            </a:pPr>
            <a:r>
              <a:t>The system is a decision-support prototype; real-world deployment would require certified safety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/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3. Objectives &amp; 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A69A0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698480" cy="53035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42A4A"/>
                </a:solidFill>
              </a:defRPr>
            </a:pPr>
            <a:r>
              <a:t>Primary objective</a:t>
            </a:r>
          </a:p>
          <a:p>
            <a:pPr lvl="1">
              <a:spcAft>
                <a:spcPts val="1100"/>
              </a:spcAft>
              <a:defRPr sz="1600">
                <a:solidFill>
                  <a:srgbClr val="232D37"/>
                </a:solidFill>
              </a:defRPr>
            </a:pPr>
            <a:r>
              <a:t>Organize takeoffs and landings by urgency and operational constraints.</a:t>
            </a:r>
          </a:p>
          <a:p>
            <a:pPr>
              <a:spcAft>
                <a:spcPts val="300"/>
              </a:spcAft>
              <a:defRPr sz="2000" b="1">
                <a:solidFill>
                  <a:srgbClr val="142A4A"/>
                </a:solidFill>
              </a:defRPr>
            </a:pPr>
            <a:r>
              <a:t>CO-2</a:t>
            </a:r>
          </a:p>
          <a:p>
            <a:pPr lvl="1">
              <a:spcAft>
                <a:spcPts val="1100"/>
              </a:spcAft>
              <a:defRPr sz="1600">
                <a:solidFill>
                  <a:srgbClr val="232D37"/>
                </a:solidFill>
              </a:defRPr>
            </a:pPr>
            <a:r>
              <a:t>Evaluate searching and sorting algorithms for efficient flight-data processing.</a:t>
            </a:r>
          </a:p>
          <a:p>
            <a:pPr>
              <a:spcAft>
                <a:spcPts val="300"/>
              </a:spcAft>
              <a:defRPr sz="2000" b="1">
                <a:solidFill>
                  <a:srgbClr val="142A4A"/>
                </a:solidFill>
              </a:defRPr>
            </a:pPr>
            <a:r>
              <a:t>CO-3</a:t>
            </a:r>
          </a:p>
          <a:p>
            <a:pPr lvl="1">
              <a:spcAft>
                <a:spcPts val="1100"/>
              </a:spcAft>
              <a:defRPr sz="1600">
                <a:solidFill>
                  <a:srgbClr val="232D37"/>
                </a:solidFill>
              </a:defRPr>
            </a:pPr>
            <a:r>
              <a:t>Evaluate tree structures for efficient data management using a Max-Heap priority queue.</a:t>
            </a:r>
          </a:p>
          <a:p>
            <a:pPr>
              <a:spcAft>
                <a:spcPts val="300"/>
              </a:spcAft>
              <a:defRPr sz="2000" b="1">
                <a:solidFill>
                  <a:srgbClr val="142A4A"/>
                </a:solidFill>
              </a:defRPr>
            </a:pPr>
            <a:r>
              <a:t>CO-4</a:t>
            </a:r>
          </a:p>
          <a:p>
            <a:pPr lvl="1">
              <a:spcAft>
                <a:spcPts val="1100"/>
              </a:spcAft>
              <a:defRPr sz="1600">
                <a:solidFill>
                  <a:srgbClr val="232D37"/>
                </a:solidFill>
              </a:defRPr>
            </a:pPr>
            <a:r>
              <a:t>Evaluate graph structures and traversal/pathfinding for runway and taxiway routing.</a:t>
            </a:r>
          </a:p>
          <a:p>
            <a:pPr>
              <a:spcAft>
                <a:spcPts val="300"/>
              </a:spcAft>
              <a:defRPr sz="2000" b="1">
                <a:solidFill>
                  <a:srgbClr val="142A4A"/>
                </a:solidFill>
              </a:defRPr>
            </a:pPr>
            <a:r>
              <a:t>Learning outcome</a:t>
            </a:r>
          </a:p>
          <a:p>
            <a:pPr lvl="1">
              <a:spcAft>
                <a:spcPts val="1100"/>
              </a:spcAft>
              <a:defRPr sz="1600">
                <a:solidFill>
                  <a:srgbClr val="232D37"/>
                </a:solidFill>
              </a:defRPr>
            </a:pPr>
            <a:r>
              <a:t>Apply data structures and algorithms to a practical engineering problem.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/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4. System Design &amp; Main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A69A0"/>
                </a:solidFill>
              </a:defRPr>
            </a:pPr>
            <a: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44168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8787"/>
                </a:solidFill>
              </a:defRPr>
            </a:pPr>
            <a:r>
              <a:t>Flight Data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315468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Flight ID, type, passengers, fuel, delay, urgency, distance, emergency and turbulence considerations.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44168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8787"/>
                </a:solidFill>
              </a:defRPr>
            </a:pPr>
            <a:r>
              <a:t>Runway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56232"/>
            <a:ext cx="315468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Runway ID, availability/status, slots, positions and separation constraints.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23444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19" y="1344168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8787"/>
                </a:solidFill>
              </a:defRPr>
            </a:pPr>
            <a:r>
              <a:t>Priority 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19" y="1856232"/>
            <a:ext cx="315468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Computes a dynamic score and keeps the most urgent flight at the top.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36576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3767328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8787"/>
                </a:solidFill>
              </a:defRPr>
            </a:pPr>
            <a:r>
              <a:t>Route Planner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4279392"/>
            <a:ext cx="315468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Represents taxiways as a graph and uses Dijkstra's algorithm for route calculation.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352044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767328"/>
            <a:ext cx="3154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8787"/>
                </a:solidFill>
              </a:defRPr>
            </a:pPr>
            <a:r>
              <a:t>Console Interface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79392"/>
            <a:ext cx="315468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Supports adding flights, updating runway status and managing flight updates.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/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5. Core Algorithm &amp; Priority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A69A0"/>
                </a:solidFill>
              </a:defRPr>
            </a:pPr>
            <a: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52728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8787"/>
                </a:solidFill>
              </a:defRPr>
            </a:pPr>
            <a:r>
              <a:t>Flight 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475487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The report describes a dynamic score based on urgency, inverse fuel level, delay and passenger 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14300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252728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2B134"/>
                </a:solidFill>
              </a:defRPr>
            </a:pPr>
            <a:r>
              <a:t>Scheduling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764792"/>
            <a:ext cx="475487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Insert/update flights in a Max-Heap; select the highest-priority flight while checking runway availability and safety separation.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38328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493008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A69A0"/>
                </a:solidFill>
              </a:defRPr>
            </a:pPr>
            <a:r>
              <a:t>Taxiway Routing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05072"/>
            <a:ext cx="475487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Model runway/taxiway links as an adjacency matrix and apply Dijkstra's shortest-path algorithm.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38328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493008"/>
            <a:ext cx="47548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8787"/>
                </a:solidFill>
              </a:defRPr>
            </a:pPr>
            <a:r>
              <a:t>Emergency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4005072"/>
            <a:ext cx="4754879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Emergency calls trigger priority re-evaluation; route toward an available runway where feasible.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6692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2A69A0"/>
                </a:solidFill>
              </a:defRPr>
            </a:pPr>
            <a:r>
              <a:t>Note: the report does not provide a single complete numeric formula or measured benchmark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/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6. Workflow /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A69A0"/>
                </a:solidFill>
              </a:defRPr>
            </a:pPr>
            <a:r>
              <a:t>7</a:t>
            </a:r>
          </a:p>
        </p:txBody>
      </p:sp>
      <p:sp>
        <p:nvSpPr>
          <p:cNvPr id="5" name="Terminator 4"/>
          <p:cNvSpPr/>
          <p:nvPr/>
        </p:nvSpPr>
        <p:spPr>
          <a:xfrm>
            <a:off x="640080" y="1143000"/>
            <a:ext cx="1325880" cy="594360"/>
          </a:xfrm>
          <a:prstGeom prst="flowChartTerminator">
            <a:avLst/>
          </a:prstGeom>
          <a:solidFill>
            <a:srgbClr val="193054"/>
          </a:solidFill>
          <a:ln w="19050">
            <a:solidFill>
              <a:srgbClr val="19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1143000"/>
            <a:ext cx="1828800" cy="6858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232D3C"/>
                </a:solidFill>
                <a:latin typeface="Aptos"/>
              </a:rPr>
              <a:t>Enter / update
flight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143000"/>
            <a:ext cx="1828800" cy="6858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232D3C"/>
                </a:solidFill>
                <a:latin typeface="Aptos"/>
              </a:rPr>
              <a:t>Calculate flight
priority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143000"/>
            <a:ext cx="1828800" cy="68580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232D3C"/>
                </a:solidFill>
                <a:latin typeface="Aptos"/>
              </a:rPr>
              <a:t>Insert / update
Max-Heap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1143000"/>
            <a:ext cx="2240280" cy="685800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5A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232D3C"/>
                </a:solidFill>
                <a:latin typeface="Aptos"/>
              </a:rPr>
              <a:t>Check runway
availability + safety gap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65960" y="1444752"/>
            <a:ext cx="365760" cy="0"/>
          </a:xfrm>
          <a:prstGeom prst="line">
            <a:avLst/>
          </a:prstGeom>
          <a:ln w="25400">
            <a:solidFill>
              <a:srgbClr val="193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60520" y="1444752"/>
            <a:ext cx="411480" cy="0"/>
          </a:xfrm>
          <a:prstGeom prst="line">
            <a:avLst/>
          </a:prstGeom>
          <a:ln w="25400">
            <a:solidFill>
              <a:srgbClr val="193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400800" y="1444752"/>
            <a:ext cx="411480" cy="0"/>
          </a:xfrm>
          <a:prstGeom prst="line">
            <a:avLst/>
          </a:prstGeom>
          <a:ln w="25400">
            <a:solidFill>
              <a:srgbClr val="193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641080" y="1444752"/>
            <a:ext cx="411480" cy="0"/>
          </a:xfrm>
          <a:prstGeom prst="line">
            <a:avLst/>
          </a:prstGeom>
          <a:ln w="25400">
            <a:solidFill>
              <a:srgbClr val="193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168128" y="1828800"/>
            <a:ext cx="0" cy="502920"/>
          </a:xfrm>
          <a:prstGeom prst="line">
            <a:avLst/>
          </a:prstGeom>
          <a:ln w="25400">
            <a:solidFill>
              <a:srgbClr val="193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ecision 14"/>
          <p:cNvSpPr/>
          <p:nvPr/>
        </p:nvSpPr>
        <p:spPr>
          <a:xfrm>
            <a:off x="9006840" y="2331720"/>
            <a:ext cx="2331720" cy="914400"/>
          </a:xfrm>
          <a:prstGeom prst="flowChartDecision">
            <a:avLst/>
          </a:prstGeom>
          <a:solidFill>
            <a:srgbClr val="FFF5E1"/>
          </a:solidFill>
          <a:ln w="19050">
            <a:solidFill>
              <a:srgbClr val="F5A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232D3C"/>
                </a:solidFill>
                <a:latin typeface="Aptos"/>
              </a:rPr>
              <a:t>Runway and safety
conditions satisfied?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3703320"/>
            <a:ext cx="2057400" cy="731520"/>
          </a:xfrm>
          <a:prstGeom prst="roundRect">
            <a:avLst/>
          </a:prstGeom>
          <a:solidFill>
            <a:srgbClr val="E4F6F1"/>
          </a:solidFill>
          <a:ln w="19050">
            <a:solidFill>
              <a:srgbClr val="1A8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232D3C"/>
                </a:solidFill>
                <a:latin typeface="Aptos"/>
              </a:rPr>
              <a:t>Select flight /
handle emergency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0" y="3703320"/>
            <a:ext cx="2057400" cy="731520"/>
          </a:xfrm>
          <a:prstGeom prst="roundRect">
            <a:avLst/>
          </a:prstGeom>
          <a:solidFill>
            <a:srgbClr val="EBF3FC"/>
          </a:solidFill>
          <a:ln w="19050">
            <a:solidFill>
              <a:srgbClr val="2A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400" b="1">
                <a:solidFill>
                  <a:srgbClr val="232D3C"/>
                </a:solidFill>
                <a:latin typeface="Aptos"/>
              </a:rPr>
              <a:t>Plan taxiway route
(Dijkstra)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" y="3703320"/>
            <a:ext cx="2057400" cy="731520"/>
          </a:xfrm>
          <a:prstGeom prst="roundRect">
            <a:avLst/>
          </a:prstGeom>
          <a:solidFill>
            <a:srgbClr val="193054"/>
          </a:solidFill>
          <a:ln w="19050">
            <a:solidFill>
              <a:srgbClr val="1930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Display schedule
and status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8412480" y="2788920"/>
            <a:ext cx="594360" cy="0"/>
          </a:xfrm>
          <a:prstGeom prst="line">
            <a:avLst/>
          </a:prstGeom>
          <a:ln w="25400">
            <a:solidFill>
              <a:srgbClr val="193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58200" y="2514600"/>
            <a:ext cx="411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A8487"/>
                </a:solidFill>
              </a:rPr>
              <a:t>YES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5715000" y="4069080"/>
            <a:ext cx="640080" cy="0"/>
          </a:xfrm>
          <a:prstGeom prst="line">
            <a:avLst/>
          </a:prstGeom>
          <a:ln w="25400">
            <a:solidFill>
              <a:srgbClr val="193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3017520" y="4069080"/>
            <a:ext cx="640080" cy="0"/>
          </a:xfrm>
          <a:prstGeom prst="line">
            <a:avLst/>
          </a:prstGeom>
          <a:ln w="25400">
            <a:solidFill>
              <a:srgbClr val="1930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168128" y="3246120"/>
            <a:ext cx="0" cy="960120"/>
          </a:xfrm>
          <a:prstGeom prst="line">
            <a:avLst/>
          </a:prstGeom>
          <a:ln w="25400">
            <a:solidFill>
              <a:srgbClr val="F5A5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287000" y="352044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F5A542"/>
                </a:solidFill>
              </a:rPr>
              <a:t>NO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4206240"/>
            <a:ext cx="2331720" cy="640080"/>
          </a:xfrm>
          <a:prstGeom prst="roundRect">
            <a:avLst/>
          </a:prstGeom>
          <a:solidFill>
            <a:srgbClr val="FFF5E1"/>
          </a:solidFill>
          <a:ln w="19050">
            <a:solidFill>
              <a:srgbClr val="F5A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232D3C"/>
                </a:solidFill>
                <a:latin typeface="Aptos"/>
              </a:rPr>
              <a:t>Update data / wait
for safe runway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8503920" y="4526280"/>
            <a:ext cx="502920" cy="0"/>
          </a:xfrm>
          <a:prstGeom prst="line">
            <a:avLst/>
          </a:prstGeom>
          <a:ln w="25400">
            <a:solidFill>
              <a:srgbClr val="F5A5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4400" y="53035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>
                <a:solidFill>
                  <a:srgbClr val="193054"/>
                </a:solidFill>
                <a:latin typeface="Aptos"/>
              </a:rPr>
              <a:t>Safety gate: assign a flight only after runway availability and required separation are confirmed. If conditions change, update flight data and re-evaluate the Max-Heap.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8641080" y="4526280"/>
            <a:ext cx="365760" cy="0"/>
          </a:xfrm>
          <a:prstGeom prst="line">
            <a:avLst/>
          </a:prstGeom>
          <a:ln w="19050">
            <a:solidFill>
              <a:srgbClr val="F5A5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641080" y="2194560"/>
            <a:ext cx="0" cy="2331720"/>
          </a:xfrm>
          <a:prstGeom prst="line">
            <a:avLst/>
          </a:prstGeom>
          <a:ln w="19050">
            <a:solidFill>
              <a:srgbClr val="F5A5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641080" y="1828800"/>
            <a:ext cx="594360" cy="365760"/>
          </a:xfrm>
          <a:prstGeom prst="line">
            <a:avLst/>
          </a:prstGeom>
          <a:ln w="19050">
            <a:solidFill>
              <a:srgbClr val="F5A5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/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7. Outputs &amp; Current Project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A69A0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97280"/>
            <a:ext cx="10698480" cy="448056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142A4A"/>
                </a:solidFill>
              </a:defRPr>
            </a:pPr>
            <a:r>
              <a:t>Interactive C++ console</a:t>
            </a:r>
          </a:p>
          <a:p>
            <a:pPr lvl="1">
              <a:spcAft>
                <a:spcPts val="1100"/>
              </a:spcAft>
              <a:defRPr sz="1600">
                <a:solidFill>
                  <a:srgbClr val="232D37"/>
                </a:solidFill>
              </a:defRPr>
            </a:pPr>
            <a:r>
              <a:t>Add incoming flights, update runway status and manage flight details.</a:t>
            </a:r>
          </a:p>
          <a:p>
            <a:pPr>
              <a:spcAft>
                <a:spcPts val="300"/>
              </a:spcAft>
              <a:defRPr sz="2000" b="1">
                <a:solidFill>
                  <a:srgbClr val="142A4A"/>
                </a:solidFill>
              </a:defRPr>
            </a:pPr>
            <a:r>
              <a:t>Schedule generation</a:t>
            </a:r>
          </a:p>
          <a:p>
            <a:pPr lvl="1">
              <a:spcAft>
                <a:spcPts val="1100"/>
              </a:spcAft>
              <a:defRPr sz="1600">
                <a:solidFill>
                  <a:srgbClr val="232D37"/>
                </a:solidFill>
              </a:defRPr>
            </a:pPr>
            <a:r>
              <a:t>Generate a takeoff/landing sequence while accounting for separation gaps.</a:t>
            </a:r>
          </a:p>
          <a:p>
            <a:pPr>
              <a:spcAft>
                <a:spcPts val="300"/>
              </a:spcAft>
              <a:defRPr sz="2000" b="1">
                <a:solidFill>
                  <a:srgbClr val="142A4A"/>
                </a:solidFill>
              </a:defRPr>
            </a:pPr>
            <a:r>
              <a:t>Emergency preemption</a:t>
            </a:r>
          </a:p>
          <a:p>
            <a:pPr lvl="1">
              <a:spcAft>
                <a:spcPts val="1100"/>
              </a:spcAft>
              <a:defRPr sz="1600">
                <a:solidFill>
                  <a:srgbClr val="232D37"/>
                </a:solidFill>
              </a:defRPr>
            </a:pPr>
            <a:r>
              <a:t>Re-sort priorities and consider routing to an open runway.</a:t>
            </a:r>
          </a:p>
          <a:p>
            <a:pPr>
              <a:spcAft>
                <a:spcPts val="300"/>
              </a:spcAft>
              <a:defRPr sz="2000" b="1">
                <a:solidFill>
                  <a:srgbClr val="142A4A"/>
                </a:solidFill>
              </a:defRPr>
            </a:pPr>
            <a:r>
              <a:t>Efficiency logs</a:t>
            </a:r>
          </a:p>
          <a:p>
            <a:pPr lvl="1">
              <a:spcAft>
                <a:spcPts val="1100"/>
              </a:spcAft>
              <a:defRPr sz="1600">
                <a:solidFill>
                  <a:srgbClr val="232D37"/>
                </a:solidFill>
              </a:defRPr>
            </a:pPr>
            <a:r>
              <a:t>The report describes logs for waiting time, runway use and response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5623560"/>
            <a:ext cx="10515600" cy="548640"/>
          </a:xfrm>
          <a:prstGeom prst="roundRect">
            <a:avLst/>
          </a:prstGeom>
          <a:solidFill>
            <a:srgbClr val="E0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98787"/>
                </a:solidFill>
              </a:defRPr>
            </a:pPr>
            <a:r>
              <a:t>Presentation tip: show a real console screenshot or live run here if available.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/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8. Benefits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A69A0"/>
                </a:solidFill>
              </a:defRPr>
            </a:pPr>
            <a: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8988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8787"/>
                </a:solidFill>
              </a:defRPr>
            </a:pPr>
            <a:r>
              <a:t>Fewer Delays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3108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Priority-based scheduling aims to reduce unnecessary waiting and idle gaps.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8988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2B134"/>
                </a:solidFill>
              </a:defRPr>
            </a:pPr>
            <a:r>
              <a:t>Improved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901952"/>
            <a:ext cx="3108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Critical fuel conditions and onboard emergencies receive greater attention.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2801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59" y="138988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A69A0"/>
                </a:solidFill>
              </a:defRPr>
            </a:pPr>
            <a:r>
              <a:t>Lower Fuel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9" y="1901952"/>
            <a:ext cx="310896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Less taxiway idling and circling may reduce fuel consumption and emissions.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10241280" cy="164592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Demonstrates practical use of heaps, sorting/searching, graphs and shortest-path algorithms.</a:t>
            </a:r>
          </a:p>
          <a:p>
            <a:pPr>
              <a:spcAft>
                <a:spcPts val="1500"/>
              </a:spcAft>
              <a:defRPr sz="2000">
                <a:solidFill>
                  <a:srgbClr val="232D37"/>
                </a:solidFill>
                <a:latin typeface="Aptos"/>
              </a:defRPr>
            </a:pPr>
            <a:r>
              <a:t>Provides a foundation for more advanced scheduling and traffic-conflict handling.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/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9. 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A69A0"/>
                </a:solidFill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347472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4416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A69A0"/>
                </a:solidFill>
              </a:defRPr>
            </a:pPr>
            <a:r>
              <a:t>GUI / Radar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56232"/>
            <a:ext cx="31089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Replace the command-line interface with a visual 2D display using Qt or SFML.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34440"/>
            <a:ext cx="347472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34416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98787"/>
                </a:solidFill>
              </a:defRPr>
            </a:pPr>
            <a:r>
              <a:t>Complex Runways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856232"/>
            <a:ext cx="31089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Model crossing runways, gate availability and taxiway traffic conflicts.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1234440"/>
            <a:ext cx="347472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344168"/>
            <a:ext cx="3108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2B134"/>
                </a:solidFill>
              </a:defRPr>
            </a:pPr>
            <a:r>
              <a:t>Smarter Heuristics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856232"/>
            <a:ext cx="310896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D37"/>
                </a:solidFill>
              </a:defRPr>
            </a:pPr>
            <a:r>
              <a:t>Explore genetic algorithms alongside priority queues for multi-airport scheduling.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142A4A"/>
                </a:solidFill>
              </a:defRPr>
            </a:pPr>
            <a:r>
              <a:t>Conclusion</a:t>
            </a:r>
          </a:p>
          <a:p>
            <a:pPr>
              <a:defRPr sz="1800">
                <a:solidFill>
                  <a:srgbClr val="232D37"/>
                </a:solidFill>
              </a:defRPr>
            </a:pPr>
            <a:r>
              <a:t>The project applies core DSA concepts to an airport scheduling problem. A heap supports priority-based sequencing, while graph algorithms support route planning. Future work can improve visualization, complexity handling and validation.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4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11480"/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10. References &amp;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842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2A69A0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07040" cy="3200400"/>
          </a:xfrm>
          <a:prstGeom prst="rect">
            <a:avLst/>
          </a:prstGeom>
          <a:noFill/>
        </p:spPr>
        <p:txBody>
          <a:bodyPr wrap="square" lIns="109728" rIns="73152" tIns="73152">
            <a:spAutoFit/>
          </a:bodyPr>
          <a:lstStyle/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EUROCONTROL &amp; FAA technical briefings on AMAN / DMAN.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Journal of Air Transport Management — aircraft sequencing and optimization.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Cormen, Leiserson, Rivest &amp; Stein — Introduction to Algorithms.</a:t>
            </a:r>
          </a:p>
          <a:p>
            <a:pPr>
              <a:spcAft>
                <a:spcPts val="1500"/>
              </a:spcAft>
              <a:defRPr sz="1900">
                <a:solidFill>
                  <a:srgbClr val="232D37"/>
                </a:solidFill>
                <a:latin typeface="Aptos"/>
              </a:defRPr>
            </a:pPr>
            <a:r>
              <a:t>C++ Standard Template Library documentation: priority_queue, vector and graph representation.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98787"/>
                </a:solidFill>
              </a:defRPr>
            </a:pPr>
            <a:r>
              <a:t>THANK YOU</a:t>
            </a:r>
          </a:p>
          <a:p>
            <a:pPr algn="ctr">
              <a:defRPr sz="2000">
                <a:solidFill>
                  <a:srgbClr val="142A4A"/>
                </a:solidFill>
              </a:defRPr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